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621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20490"/>
            <a:ext cx="10566400" cy="4424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621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mp array motif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rcRect l="0" r="0" t="0" b="0"/>
          <a:stretch/>
        </p:blipFill>
        <p:spPr>
          <a:xfrm>
            <a:off x="8585200" y="812800"/>
            <a:ext cx="2794000" cy="1371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12800" y="2208560"/>
            <a:ext cx="762000" cy="38100"/>
          </a:xfrm>
          <a:prstGeom prst="rect">
            <a:avLst/>
          </a:prstGeom>
          <a:solidFill>
            <a:srgbClr val="E8A46A"/>
          </a:solidFill>
          <a:ln/>
        </p:spPr>
      </p:sp>
      <p:sp>
        <p:nvSpPr>
          <p:cNvPr id="4" name="Text 1"/>
          <p:cNvSpPr/>
          <p:nvPr/>
        </p:nvSpPr>
        <p:spPr>
          <a:xfrm>
            <a:off x="812800" y="244986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spc="100" kern="0" dirty="0">
                <a:solidFill>
                  <a:srgbClr val="E8A46A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DECOUPLING CAPACITOR EVALUATION</a:t>
            </a:r>
            <a:endParaRPr lang="en-US" sz="1200" dirty="0"/>
          </a:p>
        </p:txBody>
      </p:sp>
      <p:sp>
        <p:nvSpPr>
          <p:cNvPr id="5" name="Text 2"/>
          <p:cNvSpPr/>
          <p:nvPr>
            <p:ph type="title"/>
          </p:nvPr>
        </p:nvSpPr>
        <p:spPr>
          <a:xfrm>
            <a:off x="812800" y="2866380"/>
            <a:ext cx="10883392" cy="807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160"/>
              </a:lnSpc>
              <a:buNone/>
            </a:pPr>
            <a:r>
              <a:rPr lang="en-US" sz="5600" b="1" i="0" dirty="0">
                <a:solidFill>
                  <a:srgbClr val="F5F4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Decap vendor comparison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812800" y="3851870"/>
            <a:ext cx="10883392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F5F4F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Semco · Murata · Elspses 1, 2, 3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12800" y="4418261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A9B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[Program / part family] · [Owner] · [Date]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21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request tracker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569690"/>
            <a:ext cx="10566400" cy="4011216"/>
          </a:xfrm>
          <a:prstGeom prst="rect">
            <a:avLst/>
          </a:prstGeom>
          <a:solidFill>
            <a:srgbClr val="FDFDFB"/>
          </a:solidFill>
          <a:ln/>
        </p:spPr>
      </p:sp>
      <p:sp>
        <p:nvSpPr>
          <p:cNvPr id="4" name="Shape 2"/>
          <p:cNvSpPr/>
          <p:nvPr/>
        </p:nvSpPr>
        <p:spPr>
          <a:xfrm>
            <a:off x="11376025" y="1569690"/>
            <a:ext cx="0" cy="4011216"/>
          </a:xfrm>
          <a:prstGeom prst="line">
            <a:avLst/>
          </a:prstGeom>
          <a:noFill/>
          <a:ln w="6350">
            <a:solidFill>
              <a:srgbClr val="D4D6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" y="5577731"/>
            <a:ext cx="10566400" cy="0"/>
          </a:xfrm>
          <a:prstGeom prst="line">
            <a:avLst/>
          </a:prstGeom>
          <a:noFill/>
          <a:ln w="6350">
            <a:solidFill>
              <a:srgbClr val="D4D6D3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582390"/>
          <a:ext cx="10547350" cy="3992166"/>
        </p:xfrm>
        <a:graphic>
          <a:graphicData uri="http://schemas.openxmlformats.org/drawingml/2006/table">
            <a:tbl>
              <a:tblPr/>
              <a:tblGrid>
                <a:gridCol w="3691572"/>
                <a:gridCol w="1371156"/>
                <a:gridCol w="1371156"/>
                <a:gridCol w="1371156"/>
                <a:gridCol w="1371156"/>
                <a:gridCol w="1371156"/>
              </a:tblGrid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5F4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Item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5F4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Semco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5F4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Murata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5F4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Elspses 1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5F4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Elspses 2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5F4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Elspses 3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C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1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Pin config and layout (per GND/PWR)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Pending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Pending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Pending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Pending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Pending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1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Power plates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Pending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Pending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Pending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Pending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Pending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1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ESL / ESR at 1.35 V bias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Pending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Pending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Pending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Pending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Pending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1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Impedance vs frequency (graphical)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Pending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Pending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Pending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Pending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Pending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1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Capacitance tolerance (± %)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Pending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Pending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Pending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Pending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Pending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1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Breakdown voltage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Pending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Pending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Pending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Pending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Pending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1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Dimensions and bump height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Pending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Pending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Pending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Pending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Pending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1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Solder info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Pending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Pending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Pending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Pending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Pending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1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Power information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Pending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Pending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Pending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Pending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Pending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1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Operating temp, incl. cryo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Pending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Pending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Pending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Pending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Pending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1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Voltage derating (C vs DC bias)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Pending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Pending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Pending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Pending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Pending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Decap vendor comparison · [Program]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21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Electrical comparison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569690"/>
            <a:ext cx="10566400" cy="3345855"/>
          </a:xfrm>
          <a:prstGeom prst="rect">
            <a:avLst/>
          </a:prstGeom>
          <a:solidFill>
            <a:srgbClr val="FDFDFB"/>
          </a:solidFill>
          <a:ln/>
        </p:spPr>
      </p:sp>
      <p:sp>
        <p:nvSpPr>
          <p:cNvPr id="4" name="Shape 2"/>
          <p:cNvSpPr/>
          <p:nvPr/>
        </p:nvSpPr>
        <p:spPr>
          <a:xfrm>
            <a:off x="11376025" y="1569690"/>
            <a:ext cx="0" cy="3345855"/>
          </a:xfrm>
          <a:prstGeom prst="line">
            <a:avLst/>
          </a:prstGeom>
          <a:noFill/>
          <a:ln w="6350">
            <a:solidFill>
              <a:srgbClr val="D4D6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" y="4912370"/>
            <a:ext cx="10566400" cy="0"/>
          </a:xfrm>
          <a:prstGeom prst="line">
            <a:avLst/>
          </a:prstGeom>
          <a:noFill/>
          <a:ln w="6350">
            <a:solidFill>
              <a:srgbClr val="D4D6D3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582390"/>
          <a:ext cx="10547350" cy="3326805"/>
        </p:xfrm>
        <a:graphic>
          <a:graphicData uri="http://schemas.openxmlformats.org/drawingml/2006/table">
            <a:tbl>
              <a:tblPr/>
              <a:tblGrid>
                <a:gridCol w="2798277"/>
                <a:gridCol w="1291512"/>
                <a:gridCol w="1291512"/>
                <a:gridCol w="1291512"/>
                <a:gridCol w="1291512"/>
                <a:gridCol w="1291512"/>
                <a:gridCol w="1291512"/>
              </a:tblGrid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5F4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Parameter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5F4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Target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5F4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Semco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5F4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Murata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5F4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Elspses 1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5F4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Elspses 2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5F4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Elspses 3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C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1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Capacitance (nominal)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[__ nF]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nF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nF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nF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nF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nF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1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Capacitance tolerance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± [__] 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1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Capacitance at 1.35 V bias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[≥ __ nF]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nF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nF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nF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nF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nF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1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ESL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[≤ __ pH]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pH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pH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pH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pH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pH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1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ESR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[__ mΩ]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mΩ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mΩ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mΩ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mΩ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mΩ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1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Self-resonant frequency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[__ MHz]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MHz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MHz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MHz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MHz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MHz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1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Rated voltage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[__ V]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V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V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V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V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V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1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Breakdown voltage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B053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Maximize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V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V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V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V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V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1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Leakage current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[≤ __ nA]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nA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nA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nA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nA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nA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Decap vendor comparison · [Program]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21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Impedance vs frequency</a:t>
            </a:r>
            <a:endParaRPr lang="en-US" sz="3600" dirty="0"/>
          </a:p>
        </p:txBody>
      </p:sp>
      <p:pic>
        <p:nvPicPr>
          <p:cNvPr id="3" name="Image 0" descr="Empty log-log axes for overlaying impedance curves against a target 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569690"/>
            <a:ext cx="10566400" cy="3302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15975" y="5128865"/>
            <a:ext cx="1006128" cy="321270"/>
          </a:xfrm>
          <a:prstGeom prst="roundRect">
            <a:avLst>
              <a:gd name="adj" fmla="val 14824"/>
            </a:avLst>
          </a:prstGeom>
          <a:solidFill>
            <a:srgbClr val="FDFDFB"/>
          </a:solidFill>
          <a:ln w="6350">
            <a:solidFill>
              <a:srgbClr val="D4D6D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20750" y="5264100"/>
            <a:ext cx="254000" cy="50800"/>
          </a:xfrm>
          <a:prstGeom prst="rect">
            <a:avLst/>
          </a:prstGeom>
          <a:solidFill>
            <a:srgbClr val="2F63A8"/>
          </a:solidFill>
          <a:ln/>
        </p:spPr>
      </p:sp>
      <p:sp>
        <p:nvSpPr>
          <p:cNvPr id="6" name="Text 3"/>
          <p:cNvSpPr/>
          <p:nvPr/>
        </p:nvSpPr>
        <p:spPr>
          <a:xfrm>
            <a:off x="1250950" y="5182840"/>
            <a:ext cx="55965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1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Semco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930053" y="5128865"/>
            <a:ext cx="1021655" cy="321270"/>
          </a:xfrm>
          <a:prstGeom prst="roundRect">
            <a:avLst>
              <a:gd name="adj" fmla="val 14824"/>
            </a:avLst>
          </a:prstGeom>
          <a:solidFill>
            <a:srgbClr val="FDFDFB"/>
          </a:solidFill>
          <a:ln w="6350">
            <a:solidFill>
              <a:srgbClr val="D4D6D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034828" y="5264100"/>
            <a:ext cx="254000" cy="50800"/>
          </a:xfrm>
          <a:prstGeom prst="rect">
            <a:avLst/>
          </a:prstGeom>
          <a:solidFill>
            <a:srgbClr val="D9A03F"/>
          </a:solidFill>
          <a:ln/>
        </p:spPr>
      </p:sp>
      <p:sp>
        <p:nvSpPr>
          <p:cNvPr id="9" name="Text 6"/>
          <p:cNvSpPr/>
          <p:nvPr/>
        </p:nvSpPr>
        <p:spPr>
          <a:xfrm>
            <a:off x="2365028" y="5182840"/>
            <a:ext cx="57828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1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Murata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059658" y="5128865"/>
            <a:ext cx="1192213" cy="321270"/>
          </a:xfrm>
          <a:prstGeom prst="roundRect">
            <a:avLst>
              <a:gd name="adj" fmla="val 14824"/>
            </a:avLst>
          </a:prstGeom>
          <a:solidFill>
            <a:srgbClr val="FDFDFB"/>
          </a:solidFill>
          <a:ln w="6350">
            <a:solidFill>
              <a:srgbClr val="D4D6D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164433" y="5264100"/>
            <a:ext cx="254000" cy="50800"/>
          </a:xfrm>
          <a:prstGeom prst="rect">
            <a:avLst/>
          </a:prstGeom>
          <a:solidFill>
            <a:srgbClr val="1F4A4D"/>
          </a:solidFill>
          <a:ln/>
        </p:spPr>
      </p:sp>
      <p:sp>
        <p:nvSpPr>
          <p:cNvPr id="12" name="Text 9"/>
          <p:cNvSpPr/>
          <p:nvPr/>
        </p:nvSpPr>
        <p:spPr>
          <a:xfrm>
            <a:off x="3494633" y="5182840"/>
            <a:ext cx="75406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1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Elspses 1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359821" y="5128865"/>
            <a:ext cx="1192213" cy="321270"/>
          </a:xfrm>
          <a:prstGeom prst="roundRect">
            <a:avLst>
              <a:gd name="adj" fmla="val 14824"/>
            </a:avLst>
          </a:prstGeom>
          <a:solidFill>
            <a:srgbClr val="FDFDFB"/>
          </a:solidFill>
          <a:ln w="6350">
            <a:solidFill>
              <a:srgbClr val="D4D6D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64596" y="5264100"/>
            <a:ext cx="254000" cy="50800"/>
          </a:xfrm>
          <a:prstGeom prst="rect">
            <a:avLst/>
          </a:prstGeom>
          <a:solidFill>
            <a:srgbClr val="3F8F91"/>
          </a:solidFill>
          <a:ln/>
        </p:spPr>
      </p:sp>
      <p:sp>
        <p:nvSpPr>
          <p:cNvPr id="15" name="Text 12"/>
          <p:cNvSpPr/>
          <p:nvPr/>
        </p:nvSpPr>
        <p:spPr>
          <a:xfrm>
            <a:off x="4794796" y="5182840"/>
            <a:ext cx="75406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1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Elspses 2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659983" y="5128865"/>
            <a:ext cx="1192213" cy="321270"/>
          </a:xfrm>
          <a:prstGeom prst="roundRect">
            <a:avLst>
              <a:gd name="adj" fmla="val 14824"/>
            </a:avLst>
          </a:prstGeom>
          <a:solidFill>
            <a:srgbClr val="FDFDFB"/>
          </a:solidFill>
          <a:ln w="6350">
            <a:solidFill>
              <a:srgbClr val="D4D6D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764758" y="5264100"/>
            <a:ext cx="254000" cy="50800"/>
          </a:xfrm>
          <a:prstGeom prst="rect">
            <a:avLst/>
          </a:prstGeom>
          <a:solidFill>
            <a:srgbClr val="9FD0CF"/>
          </a:solidFill>
          <a:ln/>
        </p:spPr>
      </p:sp>
      <p:sp>
        <p:nvSpPr>
          <p:cNvPr id="18" name="Text 15"/>
          <p:cNvSpPr/>
          <p:nvPr/>
        </p:nvSpPr>
        <p:spPr>
          <a:xfrm>
            <a:off x="6094958" y="5182840"/>
            <a:ext cx="75406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1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Elspses 3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960146" y="5128865"/>
            <a:ext cx="966788" cy="321270"/>
          </a:xfrm>
          <a:prstGeom prst="roundRect">
            <a:avLst>
              <a:gd name="adj" fmla="val 14824"/>
            </a:avLst>
          </a:prstGeom>
          <a:solidFill>
            <a:srgbClr val="FDFDFB"/>
          </a:solidFill>
          <a:ln w="6350">
            <a:solidFill>
              <a:srgbClr val="D4D6D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064921" y="5289500"/>
            <a:ext cx="254000" cy="0"/>
          </a:xfrm>
          <a:prstGeom prst="line">
            <a:avLst/>
          </a:prstGeom>
          <a:noFill/>
          <a:ln w="25400">
            <a:solidFill>
              <a:srgbClr val="B0531A"/>
            </a:solidFill>
            <a:prstDash val="dash"/>
          </a:ln>
        </p:spPr>
      </p:sp>
      <p:sp>
        <p:nvSpPr>
          <p:cNvPr id="21" name="Text 18"/>
          <p:cNvSpPr/>
          <p:nvPr/>
        </p:nvSpPr>
        <p:spPr>
          <a:xfrm>
            <a:off x="7395121" y="5182840"/>
            <a:ext cx="51244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621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Target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549400" y="1854200"/>
            <a:ext cx="19621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|Z| (Ω, log)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745220" y="3175000"/>
            <a:ext cx="23545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053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Target |Z| [__ mΩ]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745220" y="4559300"/>
            <a:ext cx="23545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Frequency (Hz, log)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Decap vendor comparison · [Program]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21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Capacitance vs bias and temperature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569690"/>
            <a:ext cx="10566400" cy="2534295"/>
          </a:xfrm>
          <a:prstGeom prst="rect">
            <a:avLst/>
          </a:prstGeom>
          <a:solidFill>
            <a:srgbClr val="FDFDFB"/>
          </a:solidFill>
          <a:ln/>
        </p:spPr>
      </p:sp>
      <p:sp>
        <p:nvSpPr>
          <p:cNvPr id="4" name="Shape 2"/>
          <p:cNvSpPr/>
          <p:nvPr/>
        </p:nvSpPr>
        <p:spPr>
          <a:xfrm>
            <a:off x="11376025" y="1569690"/>
            <a:ext cx="0" cy="2534295"/>
          </a:xfrm>
          <a:prstGeom prst="line">
            <a:avLst/>
          </a:prstGeom>
          <a:noFill/>
          <a:ln w="6350">
            <a:solidFill>
              <a:srgbClr val="D4D6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" y="4100810"/>
            <a:ext cx="10566400" cy="0"/>
          </a:xfrm>
          <a:prstGeom prst="line">
            <a:avLst/>
          </a:prstGeom>
          <a:noFill/>
          <a:ln w="6350">
            <a:solidFill>
              <a:srgbClr val="D4D6D3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582390"/>
          <a:ext cx="10547350" cy="2515245"/>
        </p:xfrm>
        <a:graphic>
          <a:graphicData uri="http://schemas.openxmlformats.org/drawingml/2006/table">
            <a:tbl>
              <a:tblPr/>
              <a:tblGrid>
                <a:gridCol w="3164205"/>
                <a:gridCol w="1476629"/>
                <a:gridCol w="1476629"/>
                <a:gridCol w="1476629"/>
                <a:gridCol w="1476629"/>
                <a:gridCol w="1476629"/>
              </a:tblGrid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5F4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Condition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5F4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Semco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5F4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Murata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5F4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Elspses 1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5F4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Elspses 2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5F4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Elspses 3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C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1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 at 1.0 V, room temp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nF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nF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nF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nF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nF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1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 at 1.35 V, room temp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nF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nF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nF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nF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nF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1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 at 1.5 V, room temp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nF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nF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nF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nF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nF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1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 at 1.35 V, cryo [__ K]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nF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nF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nF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nF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nF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1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ΔC vs nominal at 1.35 V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%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%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%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%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%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1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ΔC room → cryo at 1.35 V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%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%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%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%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%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Decap vendor comparison · [Program]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21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Pin configuration and layout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569690"/>
            <a:ext cx="1991320" cy="3091011"/>
          </a:xfrm>
          <a:prstGeom prst="rect">
            <a:avLst/>
          </a:prstGeom>
          <a:solidFill>
            <a:srgbClr val="FDFDFB"/>
          </a:solidFill>
          <a:ln/>
        </p:spPr>
      </p:sp>
      <p:sp>
        <p:nvSpPr>
          <p:cNvPr id="4" name="Shape 2"/>
          <p:cNvSpPr/>
          <p:nvPr/>
        </p:nvSpPr>
        <p:spPr>
          <a:xfrm>
            <a:off x="812800" y="1588740"/>
            <a:ext cx="1991320" cy="0"/>
          </a:xfrm>
          <a:prstGeom prst="line">
            <a:avLst/>
          </a:prstGeom>
          <a:noFill/>
          <a:ln w="38100">
            <a:solidFill>
              <a:srgbClr val="2F63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5200" y="1760190"/>
            <a:ext cx="173732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1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Semco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71550" y="2086570"/>
            <a:ext cx="1673820" cy="1257300"/>
          </a:xfrm>
          <a:prstGeom prst="rect">
            <a:avLst/>
          </a:prstGeom>
          <a:solidFill>
            <a:srgbClr val="F5F4F0"/>
          </a:solidFill>
          <a:ln w="12700">
            <a:solidFill>
              <a:srgbClr val="D4D6D3"/>
            </a:solidFill>
            <a:prstDash val="dash"/>
          </a:ln>
        </p:spPr>
        <p:txBody>
          <a:bodyPr wrap="square" lIns="6350" tIns="6350" rIns="6350" bIns="635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Paste pin 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5200" y="3426420"/>
            <a:ext cx="17373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PWR pins:</a:t>
            </a:r>
            <a:r>
              <a:rPr lang="en-US" sz="1200" dirty="0">
                <a:solidFill>
                  <a:srgbClr val="1621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__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5200" y="3715941"/>
            <a:ext cx="17373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GND pins:</a:t>
            </a:r>
            <a:r>
              <a:rPr lang="en-US" sz="1200" dirty="0">
                <a:solidFill>
                  <a:srgbClr val="1621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__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5200" y="4005461"/>
            <a:ext cx="17373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Pin pattern:</a:t>
            </a:r>
            <a:r>
              <a:rPr lang="en-US" sz="1200" dirty="0">
                <a:solidFill>
                  <a:srgbClr val="1621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__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5200" y="4294981"/>
            <a:ext cx="17373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Power plates:</a:t>
            </a:r>
            <a:r>
              <a:rPr lang="en-US" sz="1200" dirty="0">
                <a:solidFill>
                  <a:srgbClr val="1621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__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956520" y="1569690"/>
            <a:ext cx="1991370" cy="3091011"/>
          </a:xfrm>
          <a:prstGeom prst="rect">
            <a:avLst/>
          </a:prstGeom>
          <a:solidFill>
            <a:srgbClr val="FDFDFB"/>
          </a:solidFill>
          <a:ln/>
        </p:spPr>
      </p:sp>
      <p:sp>
        <p:nvSpPr>
          <p:cNvPr id="12" name="Shape 10"/>
          <p:cNvSpPr/>
          <p:nvPr/>
        </p:nvSpPr>
        <p:spPr>
          <a:xfrm>
            <a:off x="2956520" y="1588740"/>
            <a:ext cx="1991370" cy="0"/>
          </a:xfrm>
          <a:prstGeom prst="line">
            <a:avLst/>
          </a:prstGeom>
          <a:noFill/>
          <a:ln w="38100">
            <a:solidFill>
              <a:srgbClr val="2F63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20" y="1760190"/>
            <a:ext cx="173737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1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Murata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115270" y="2086570"/>
            <a:ext cx="1673870" cy="1257300"/>
          </a:xfrm>
          <a:prstGeom prst="rect">
            <a:avLst/>
          </a:prstGeom>
          <a:solidFill>
            <a:srgbClr val="F5F4F0"/>
          </a:solidFill>
          <a:ln w="12700">
            <a:solidFill>
              <a:srgbClr val="D4D6D3"/>
            </a:solidFill>
            <a:prstDash val="dash"/>
          </a:ln>
        </p:spPr>
        <p:txBody>
          <a:bodyPr wrap="square" lIns="6350" tIns="6350" rIns="6350" bIns="635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Paste pin map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08920" y="3426420"/>
            <a:ext cx="17373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PWR pins:</a:t>
            </a:r>
            <a:r>
              <a:rPr lang="en-US" sz="1200" dirty="0">
                <a:solidFill>
                  <a:srgbClr val="1621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__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108920" y="3715941"/>
            <a:ext cx="17373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GND pins:</a:t>
            </a:r>
            <a:r>
              <a:rPr lang="en-US" sz="1200" dirty="0">
                <a:solidFill>
                  <a:srgbClr val="1621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__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08920" y="4005461"/>
            <a:ext cx="17373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Pin pattern:</a:t>
            </a:r>
            <a:r>
              <a:rPr lang="en-US" sz="1200" dirty="0">
                <a:solidFill>
                  <a:srgbClr val="1621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__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08920" y="4294981"/>
            <a:ext cx="17373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Power plates:</a:t>
            </a:r>
            <a:r>
              <a:rPr lang="en-US" sz="1200" dirty="0">
                <a:solidFill>
                  <a:srgbClr val="1621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__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100290" y="1569690"/>
            <a:ext cx="1991370" cy="3091011"/>
          </a:xfrm>
          <a:prstGeom prst="rect">
            <a:avLst/>
          </a:prstGeom>
          <a:solidFill>
            <a:srgbClr val="FDFDFB"/>
          </a:solidFill>
          <a:ln/>
        </p:spPr>
      </p:sp>
      <p:sp>
        <p:nvSpPr>
          <p:cNvPr id="20" name="Shape 18"/>
          <p:cNvSpPr/>
          <p:nvPr/>
        </p:nvSpPr>
        <p:spPr>
          <a:xfrm>
            <a:off x="5100290" y="1588740"/>
            <a:ext cx="1991370" cy="0"/>
          </a:xfrm>
          <a:prstGeom prst="line">
            <a:avLst/>
          </a:prstGeom>
          <a:noFill/>
          <a:ln w="38100">
            <a:solidFill>
              <a:srgbClr val="2F63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52690" y="1760190"/>
            <a:ext cx="173737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1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Elspses 1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259040" y="2086570"/>
            <a:ext cx="1673870" cy="1257300"/>
          </a:xfrm>
          <a:prstGeom prst="rect">
            <a:avLst/>
          </a:prstGeom>
          <a:solidFill>
            <a:srgbClr val="F5F4F0"/>
          </a:solidFill>
          <a:ln w="12700">
            <a:solidFill>
              <a:srgbClr val="D4D6D3"/>
            </a:solidFill>
            <a:prstDash val="dash"/>
          </a:ln>
        </p:spPr>
        <p:txBody>
          <a:bodyPr wrap="square" lIns="6350" tIns="6350" rIns="6350" bIns="635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Paste pin map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52690" y="3426420"/>
            <a:ext cx="17373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PWR pins:</a:t>
            </a:r>
            <a:r>
              <a:rPr lang="en-US" sz="1200" dirty="0">
                <a:solidFill>
                  <a:srgbClr val="1621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__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52690" y="3715941"/>
            <a:ext cx="17373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GND pins:</a:t>
            </a:r>
            <a:r>
              <a:rPr lang="en-US" sz="1200" dirty="0">
                <a:solidFill>
                  <a:srgbClr val="1621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__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52690" y="4005461"/>
            <a:ext cx="17373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Pin pattern:</a:t>
            </a:r>
            <a:r>
              <a:rPr lang="en-US" sz="1200" dirty="0">
                <a:solidFill>
                  <a:srgbClr val="1621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__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52690" y="4294981"/>
            <a:ext cx="17373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Power plates:</a:t>
            </a:r>
            <a:r>
              <a:rPr lang="en-US" sz="1200" dirty="0">
                <a:solidFill>
                  <a:srgbClr val="1621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__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244060" y="1569690"/>
            <a:ext cx="1991370" cy="3091011"/>
          </a:xfrm>
          <a:prstGeom prst="rect">
            <a:avLst/>
          </a:prstGeom>
          <a:solidFill>
            <a:srgbClr val="FDFDFB"/>
          </a:solidFill>
          <a:ln/>
        </p:spPr>
      </p:sp>
      <p:sp>
        <p:nvSpPr>
          <p:cNvPr id="28" name="Shape 26"/>
          <p:cNvSpPr/>
          <p:nvPr/>
        </p:nvSpPr>
        <p:spPr>
          <a:xfrm>
            <a:off x="7244060" y="1588740"/>
            <a:ext cx="1991370" cy="0"/>
          </a:xfrm>
          <a:prstGeom prst="line">
            <a:avLst/>
          </a:prstGeom>
          <a:noFill/>
          <a:ln w="38100">
            <a:solidFill>
              <a:srgbClr val="2F63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96460" y="1760190"/>
            <a:ext cx="173737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1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Elspses 2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402810" y="2086570"/>
            <a:ext cx="1673870" cy="1257300"/>
          </a:xfrm>
          <a:prstGeom prst="rect">
            <a:avLst/>
          </a:prstGeom>
          <a:solidFill>
            <a:srgbClr val="F5F4F0"/>
          </a:solidFill>
          <a:ln w="12700">
            <a:solidFill>
              <a:srgbClr val="D4D6D3"/>
            </a:solidFill>
            <a:prstDash val="dash"/>
          </a:ln>
        </p:spPr>
        <p:txBody>
          <a:bodyPr wrap="square" lIns="6350" tIns="6350" rIns="6350" bIns="635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Paste pin map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396460" y="3426420"/>
            <a:ext cx="17373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PWR pins:</a:t>
            </a:r>
            <a:r>
              <a:rPr lang="en-US" sz="1200" dirty="0">
                <a:solidFill>
                  <a:srgbClr val="1621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__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96460" y="3715941"/>
            <a:ext cx="17373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GND pins:</a:t>
            </a:r>
            <a:r>
              <a:rPr lang="en-US" sz="1200" dirty="0">
                <a:solidFill>
                  <a:srgbClr val="1621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__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396460" y="4005461"/>
            <a:ext cx="17373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Pin pattern:</a:t>
            </a:r>
            <a:r>
              <a:rPr lang="en-US" sz="1200" dirty="0">
                <a:solidFill>
                  <a:srgbClr val="1621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__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396460" y="4294981"/>
            <a:ext cx="17373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Power plates:</a:t>
            </a:r>
            <a:r>
              <a:rPr lang="en-US" sz="1200" dirty="0">
                <a:solidFill>
                  <a:srgbClr val="1621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__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387830" y="1569690"/>
            <a:ext cx="1991370" cy="3091011"/>
          </a:xfrm>
          <a:prstGeom prst="rect">
            <a:avLst/>
          </a:prstGeom>
          <a:solidFill>
            <a:srgbClr val="FDFDFB"/>
          </a:solidFill>
          <a:ln/>
        </p:spPr>
      </p:sp>
      <p:sp>
        <p:nvSpPr>
          <p:cNvPr id="36" name="Shape 34"/>
          <p:cNvSpPr/>
          <p:nvPr/>
        </p:nvSpPr>
        <p:spPr>
          <a:xfrm>
            <a:off x="9387830" y="1588740"/>
            <a:ext cx="1991370" cy="0"/>
          </a:xfrm>
          <a:prstGeom prst="line">
            <a:avLst/>
          </a:prstGeom>
          <a:noFill/>
          <a:ln w="38100">
            <a:solidFill>
              <a:srgbClr val="2F63A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540230" y="1760190"/>
            <a:ext cx="173737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1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Elspses 3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546580" y="2086570"/>
            <a:ext cx="1673870" cy="1257300"/>
          </a:xfrm>
          <a:prstGeom prst="rect">
            <a:avLst/>
          </a:prstGeom>
          <a:solidFill>
            <a:srgbClr val="F5F4F0"/>
          </a:solidFill>
          <a:ln w="12700">
            <a:solidFill>
              <a:srgbClr val="D4D6D3"/>
            </a:solidFill>
            <a:prstDash val="dash"/>
          </a:ln>
        </p:spPr>
        <p:txBody>
          <a:bodyPr wrap="square" lIns="6350" tIns="6350" rIns="6350" bIns="635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Paste pin map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540230" y="3426420"/>
            <a:ext cx="17373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PWR pins:</a:t>
            </a:r>
            <a:r>
              <a:rPr lang="en-US" sz="1200" dirty="0">
                <a:solidFill>
                  <a:srgbClr val="1621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__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540230" y="3715941"/>
            <a:ext cx="17373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GND pins:</a:t>
            </a:r>
            <a:r>
              <a:rPr lang="en-US" sz="1200" dirty="0">
                <a:solidFill>
                  <a:srgbClr val="1621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__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540230" y="4005461"/>
            <a:ext cx="17373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Pin pattern:</a:t>
            </a:r>
            <a:r>
              <a:rPr lang="en-US" sz="1200" dirty="0">
                <a:solidFill>
                  <a:srgbClr val="1621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__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540230" y="4294981"/>
            <a:ext cx="17373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Power plates:</a:t>
            </a:r>
            <a:r>
              <a:rPr lang="en-US" sz="1200" dirty="0">
                <a:solidFill>
                  <a:srgbClr val="1621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__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Decap vendor comparison · [Program]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21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Dimensions and interconnect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569690"/>
            <a:ext cx="10566400" cy="3013174"/>
          </a:xfrm>
          <a:prstGeom prst="rect">
            <a:avLst/>
          </a:prstGeom>
          <a:solidFill>
            <a:srgbClr val="FDFDFB"/>
          </a:solidFill>
          <a:ln/>
        </p:spPr>
      </p:sp>
      <p:sp>
        <p:nvSpPr>
          <p:cNvPr id="4" name="Shape 2"/>
          <p:cNvSpPr/>
          <p:nvPr/>
        </p:nvSpPr>
        <p:spPr>
          <a:xfrm>
            <a:off x="11376025" y="1569690"/>
            <a:ext cx="0" cy="3013174"/>
          </a:xfrm>
          <a:prstGeom prst="line">
            <a:avLst/>
          </a:prstGeom>
          <a:noFill/>
          <a:ln w="6350">
            <a:solidFill>
              <a:srgbClr val="D4D6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" y="4579689"/>
            <a:ext cx="10566400" cy="0"/>
          </a:xfrm>
          <a:prstGeom prst="line">
            <a:avLst/>
          </a:prstGeom>
          <a:noFill/>
          <a:ln w="6350">
            <a:solidFill>
              <a:srgbClr val="D4D6D3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582390"/>
          <a:ext cx="10547350" cy="2994124"/>
        </p:xfrm>
        <a:graphic>
          <a:graphicData uri="http://schemas.openxmlformats.org/drawingml/2006/table">
            <a:tbl>
              <a:tblPr/>
              <a:tblGrid>
                <a:gridCol w="2798277"/>
                <a:gridCol w="1291512"/>
                <a:gridCol w="1291512"/>
                <a:gridCol w="1291512"/>
                <a:gridCol w="1291512"/>
                <a:gridCol w="1291512"/>
                <a:gridCol w="1291512"/>
              </a:tblGrid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5F4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Parameter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5F4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Target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5F4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Semco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5F4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Murata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5F4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Elspses 1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5F4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Elspses 2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5F4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Elspses 3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C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1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Body size (L × W)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[__ µm]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× __ µm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× __ µm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× __ µm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× __ µm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× __ µm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1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Thickness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[__ µm]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µm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µm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µm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µm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µm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1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Bump pitch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B053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130 µm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µm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µm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µm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µm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µm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1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Bump height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[__ µm]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µm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µm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µm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µm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µm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1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Bump diameter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[__ µm]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µm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µm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µm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µm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µm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1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Bump count (PWR / GND)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B053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—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/ __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/ __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/ __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/ __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/ __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1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Coplanarity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[≤ __ µm]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µm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µm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µm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µm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µm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1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Assemblable on laminate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B053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Yes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 / 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 / 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 / 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 / 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 / 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Decap vendor comparison · [Program]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21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Solder and assembly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569690"/>
            <a:ext cx="10566400" cy="2893616"/>
          </a:xfrm>
          <a:prstGeom prst="rect">
            <a:avLst/>
          </a:prstGeom>
          <a:solidFill>
            <a:srgbClr val="FDFDFB"/>
          </a:solidFill>
          <a:ln/>
        </p:spPr>
      </p:sp>
      <p:sp>
        <p:nvSpPr>
          <p:cNvPr id="4" name="Shape 2"/>
          <p:cNvSpPr/>
          <p:nvPr/>
        </p:nvSpPr>
        <p:spPr>
          <a:xfrm>
            <a:off x="11376025" y="1569690"/>
            <a:ext cx="0" cy="2893616"/>
          </a:xfrm>
          <a:prstGeom prst="line">
            <a:avLst/>
          </a:prstGeom>
          <a:noFill/>
          <a:ln w="6350">
            <a:solidFill>
              <a:srgbClr val="D4D6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" y="4460131"/>
            <a:ext cx="10566400" cy="0"/>
          </a:xfrm>
          <a:prstGeom prst="line">
            <a:avLst/>
          </a:prstGeom>
          <a:noFill/>
          <a:ln w="6350">
            <a:solidFill>
              <a:srgbClr val="D4D6D3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582390"/>
          <a:ext cx="10547350" cy="2874566"/>
        </p:xfrm>
        <a:graphic>
          <a:graphicData uri="http://schemas.openxmlformats.org/drawingml/2006/table">
            <a:tbl>
              <a:tblPr/>
              <a:tblGrid>
                <a:gridCol w="3164205"/>
                <a:gridCol w="1476629"/>
                <a:gridCol w="1476629"/>
                <a:gridCol w="1476629"/>
                <a:gridCol w="1476629"/>
                <a:gridCol w="1476629"/>
              </a:tblGrid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5F4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Item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5F4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Semco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5F4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Murata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5F4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Elspses 1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5F4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Elspses 2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5F4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Elspses 3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C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1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Bump / UBM material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1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Solder alloy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1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Reflow peak temperature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°C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°C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°C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°C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°C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1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Reflow cycles allowed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1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Moisture sensitivity (MSL)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1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Underfill compatible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 / 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 / 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 / 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 / 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Y / 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1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Laminate assembly trial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[date]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[date]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[date]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[date]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[date]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Decap vendor comparison · [Program]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6212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Weighted scorecard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569690"/>
            <a:ext cx="10566400" cy="3345855"/>
          </a:xfrm>
          <a:prstGeom prst="rect">
            <a:avLst/>
          </a:prstGeom>
          <a:solidFill>
            <a:srgbClr val="FDFDFB"/>
          </a:solidFill>
          <a:ln/>
        </p:spPr>
      </p:sp>
      <p:sp>
        <p:nvSpPr>
          <p:cNvPr id="4" name="Shape 2"/>
          <p:cNvSpPr/>
          <p:nvPr/>
        </p:nvSpPr>
        <p:spPr>
          <a:xfrm>
            <a:off x="11376025" y="1569690"/>
            <a:ext cx="0" cy="3345855"/>
          </a:xfrm>
          <a:prstGeom prst="line">
            <a:avLst/>
          </a:prstGeom>
          <a:noFill/>
          <a:ln w="6350">
            <a:solidFill>
              <a:srgbClr val="D4D6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" y="4912370"/>
            <a:ext cx="10566400" cy="0"/>
          </a:xfrm>
          <a:prstGeom prst="line">
            <a:avLst/>
          </a:prstGeom>
          <a:noFill/>
          <a:ln w="6350">
            <a:solidFill>
              <a:srgbClr val="D4D6D3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582390"/>
          <a:ext cx="10547350" cy="3326805"/>
        </p:xfrm>
        <a:graphic>
          <a:graphicData uri="http://schemas.openxmlformats.org/drawingml/2006/table">
            <a:tbl>
              <a:tblPr/>
              <a:tblGrid>
                <a:gridCol w="2953258"/>
                <a:gridCol w="1265682"/>
                <a:gridCol w="1265682"/>
                <a:gridCol w="1265682"/>
                <a:gridCol w="1265682"/>
                <a:gridCol w="1265682"/>
                <a:gridCol w="1265682"/>
              </a:tblGrid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5F4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5F4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Weight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5F4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Semco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5F4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Murata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5F4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Elspses 1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5F4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Elspses 2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5F4F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Elspses 3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2C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1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Impedance / ESL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[__ %]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/ 5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/ 5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/ 5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/ 5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/ 5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E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1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Capacitance at 1.35 V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[__ %]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/ 5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/ 5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/ 5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/ 5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/ 5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1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Breakdown voltage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[__ %]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/ 5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/ 5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/ 5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/ 5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/ 5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1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Cryo performance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[__ %]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/ 5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/ 5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/ 5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/ 5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/ 5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1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Interconnect fit (130 µm)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[__ %]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/ 5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/ 5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/ 5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/ 5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/ 5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1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Capacitance tolerance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[__ %]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/ 5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/ 5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/ 5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/ 5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/ 5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1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Data completeness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[__ %]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/ 5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/ 5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/ 5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/ 5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/ 5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1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Cost and lead time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[__ %]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/ 5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/ 5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/ 5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/ 5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 / 5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B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12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Weighted total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B0531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100 %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__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A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A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D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2800" y="62382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Decap vendor comparison · [Program]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coupling Capacitor Vendor Comparison">
  <a:themeElements>
    <a:clrScheme name="Decoupling Capacitor Vendor Comparison">
      <a:dk1>
        <a:srgbClr val="16212C"/>
      </a:dk1>
      <a:lt1>
        <a:srgbClr val="F5F4F0"/>
      </a:lt1>
      <a:dk2>
        <a:srgbClr val="4E565D"/>
      </a:dk2>
      <a:lt2>
        <a:srgbClr val="DFDFDC"/>
      </a:lt2>
      <a:accent1>
        <a:srgbClr val="E8A46A"/>
      </a:accent1>
      <a:accent2>
        <a:srgbClr val="2F63A8"/>
      </a:accent2>
      <a:accent3>
        <a:srgbClr val="D9A03F"/>
      </a:accent3>
      <a:accent4>
        <a:srgbClr val="1F4A4D"/>
      </a:accent4>
      <a:accent5>
        <a:srgbClr val="3F8F91"/>
      </a:accent5>
      <a:accent6>
        <a:srgbClr val="9FD0CF"/>
      </a:accent6>
      <a:hlink>
        <a:srgbClr val="0563C1"/>
      </a:hlink>
      <a:folHlink>
        <a:srgbClr val="954F72"/>
      </a:folHlink>
    </a:clrScheme>
    <a:fontScheme name="Decoupling Capacitor Vendor Comparison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Decoupling Capacitor Vendor Comparison</dc:title>
  <dc:subject/>
  <dc:creator/>
  <cp:lastModifiedBy/>
  <cp:revision>1</cp:revision>
  <dcterms:created xsi:type="dcterms:W3CDTF">2026-10-01T04:28:02Z</dcterms:created>
  <dcterms:modified xsi:type="dcterms:W3CDTF">2026-10-01T04:28:02Z</dcterms:modified>
</cp:coreProperties>
</file>